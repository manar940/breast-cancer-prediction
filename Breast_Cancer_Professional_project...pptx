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36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26C50406-5420-49B1-80A7-3139C325135D}" type="datetimeFigureOut">
              <a:rPr lang="ar-EG" smtClean="0"/>
              <a:t>21/04/1448</a:t>
            </a:fld>
            <a:endParaRPr lang="ar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44698CB2-9A98-42D5-B840-09097D5DEB42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956905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698CB2-9A98-42D5-B840-09097D5DEB42}" type="slidenum">
              <a:rPr lang="ar-EG" smtClean="0"/>
              <a:t>6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527823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asnimnews.com/fa/news/1399/11/16/2446460/%D8%B4%D9%87%D8%B1-%D8%AF%D9%85%D8%A7%D9%88%D9%86%D8%AF-%D9%BE%D8%A7%DB%8C%D9%84%D9%88%D8%AA-%D8%A7%D8%AC%D8%B1%D8%A7%DB%8C-%D8%B7%D8%B1%D8%AD-%D8%B7%D8%A8-%D8%A7%DB%8C%D8%B1%D8%A7%D9%86%DB%8C-%D9%85%DB%8C-%D8%B4%D9%88%D8%AF" TargetMode="External"/><Relationship Id="rId7" Type="http://schemas.openxmlformats.org/officeDocument/2006/relationships/hyperlink" Target="https://www.londondaily.news/understanding-cancer-causes-types-treatments-and-how-global-innovations-support-uk-patients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2.jpg"/><Relationship Id="rId4" Type="http://schemas.openxmlformats.org/officeDocument/2006/relationships/hyperlink" Target="https://creativecommons.org/licenses/by/3.0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otherhoodtherealdeal.com/parenthood/cancer-causes-types-and-treatments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10549-021-06220-9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/3.0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iabac.org/blog/exploring-real-world-applications-of-machine-learning-in-data-science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iabac.org/blog/core-components-of-machine-learning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iabac.org/blog/exploring-real-world-applications-of-machine-learning-in-data-science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nocomplexity.com/documents/fossml/architecture.html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nursingcecentral.com/lessons/managing-healthcare-educational-projects-from-planning-to-evaluation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cpedia.org/chalkboard/r/reference.html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i="1" dirty="0"/>
              <a:t>Breast Cancer Prediction Using Supervised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863600" y="4135755"/>
            <a:ext cx="6400800" cy="1752600"/>
          </a:xfrm>
        </p:spPr>
        <p:txBody>
          <a:bodyPr>
            <a:normAutofit fontScale="92500" lnSpcReduction="10000"/>
          </a:bodyPr>
          <a:lstStyle/>
          <a:p>
            <a:r>
              <a:rPr sz="2800" b="1" u="sng" dirty="0">
                <a:solidFill>
                  <a:schemeClr val="tx1"/>
                </a:solidFill>
              </a:rPr>
              <a:t>Student Nam</a:t>
            </a:r>
            <a:r>
              <a:rPr lang="en-US" sz="2800" b="1" u="sng" dirty="0">
                <a:solidFill>
                  <a:schemeClr val="tx1"/>
                </a:solidFill>
              </a:rPr>
              <a:t>e</a:t>
            </a:r>
            <a:r>
              <a:rPr sz="2800" b="1" u="sng" dirty="0">
                <a:solidFill>
                  <a:schemeClr val="tx1"/>
                </a:solidFill>
              </a:rPr>
              <a:t> </a:t>
            </a:r>
            <a:r>
              <a:rPr lang="en-US" sz="2800" dirty="0">
                <a:solidFill>
                  <a:schemeClr val="tx1"/>
                </a:solidFill>
              </a:rPr>
              <a:t>: </a:t>
            </a:r>
            <a:r>
              <a:rPr lang="en-US" sz="2000" dirty="0">
                <a:solidFill>
                  <a:schemeClr val="tx1"/>
                </a:solidFill>
              </a:rPr>
              <a:t>Mariem Hamam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                                      </a:t>
            </a:r>
            <a:r>
              <a:rPr lang="en-US" sz="2000" dirty="0" err="1">
                <a:solidFill>
                  <a:schemeClr val="tx1"/>
                </a:solidFill>
              </a:rPr>
              <a:t>Manar</a:t>
            </a:r>
            <a:r>
              <a:rPr lang="en-US" sz="2000" dirty="0">
                <a:solidFill>
                  <a:schemeClr val="tx1"/>
                </a:solidFill>
              </a:rPr>
              <a:t> Mohamed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                                  Malak </a:t>
            </a:r>
            <a:r>
              <a:rPr lang="en-US" sz="2000" dirty="0" err="1">
                <a:solidFill>
                  <a:schemeClr val="tx1"/>
                </a:solidFill>
              </a:rPr>
              <a:t>Nabawy</a:t>
            </a:r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1800" b="1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        </a:t>
            </a:r>
            <a:r>
              <a:rPr lang="en-US" sz="1800" b="1" i="0" u="sng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Under Supervision </a:t>
            </a:r>
            <a:r>
              <a:rPr lang="en-US" sz="1800" u="sng" dirty="0">
                <a:solidFill>
                  <a:schemeClr val="tx1"/>
                </a:solidFill>
                <a:latin typeface="Roboto" panose="02000000000000000000" pitchFamily="2" charset="0"/>
              </a:rPr>
              <a:t>:</a:t>
            </a:r>
            <a:r>
              <a:rPr lang="en-US" sz="1800" i="0" dirty="0" err="1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Dr.Reham</a:t>
            </a:r>
            <a:r>
              <a:rPr lang="en-US" sz="180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US" sz="1800" i="0" dirty="0" err="1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Abobeah</a:t>
            </a:r>
            <a:r>
              <a:rPr lang="en-US" sz="180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 &amp; </a:t>
            </a:r>
            <a:r>
              <a:rPr lang="en-US" sz="1800" i="0" dirty="0" err="1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Eng</a:t>
            </a:r>
            <a:r>
              <a:rPr lang="en-US" sz="180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US" sz="1800" i="0" dirty="0" err="1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Esraa</a:t>
            </a:r>
            <a:endParaRPr lang="en-US" sz="1800" i="0" dirty="0">
              <a:solidFill>
                <a:schemeClr val="tx1"/>
              </a:solidFill>
              <a:effectLst/>
              <a:latin typeface="Roboto" panose="02000000000000000000" pitchFamily="2" charset="0"/>
            </a:endParaRPr>
          </a:p>
          <a:p>
            <a:endParaRPr lang="en-US" sz="2800" dirty="0">
              <a:solidFill>
                <a:schemeClr val="tx1"/>
              </a:solidFill>
            </a:endParaRPr>
          </a:p>
          <a:p>
            <a:endParaRPr sz="2800" dirty="0">
              <a:solidFill>
                <a:schemeClr val="tx1"/>
              </a:solidFill>
            </a:endParaRPr>
          </a:p>
        </p:txBody>
      </p:sp>
      <p:sp>
        <p:nvSpPr>
          <p:cNvPr id="6" name="AutoShape 6" descr="أقسام كلية هندسة جامعة الأزهر بالقاهرة للطلاب الوافدين">
            <a:extLst>
              <a:ext uri="{FF2B5EF4-FFF2-40B4-BE49-F238E27FC236}">
                <a16:creationId xmlns:a16="http://schemas.microsoft.com/office/drawing/2014/main" id="{53BFE7CF-EC1F-4A89-986D-073A8BBA42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ar-EG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0A2DD93-1783-4A7F-B9E2-AF16B49A976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1280" y="66040"/>
            <a:ext cx="8981440" cy="672592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DEDDD6F-3693-4C15-94F4-42BC70267F75}"/>
              </a:ext>
            </a:extLst>
          </p:cNvPr>
          <p:cNvSpPr txBox="1"/>
          <p:nvPr/>
        </p:nvSpPr>
        <p:spPr>
          <a:xfrm>
            <a:off x="162560" y="6857999"/>
            <a:ext cx="8981440" cy="2308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EG" sz="900">
                <a:hlinkClick r:id="rId3" tooltip="https://www.tasnimnews.com/fa/news/1399/11/16/2446460/%D8%B4%D9%87%D8%B1-%D8%AF%D9%85%D8%A7%D9%88%D9%86%D8%AF-%D9%BE%D8%A7%DB%8C%D9%84%D9%88%D8%AA-%D8%A7%D8%AC%D8%B1%D8%A7%DB%8C-%D8%B7%D8%B1%D8%AD-%D8%B7%D8%A8-%D8%A7%DB%8C%D8%B1%D8%A7%D9%86%DB%8C-%D9%85%DB%8C-%D8%B4%D9%88%D8%AF"/>
              </a:rPr>
              <a:t>This Photo</a:t>
            </a:r>
            <a:r>
              <a:rPr lang="ar-EG" sz="900"/>
              <a:t> by Unknown Author is licensed under </a:t>
            </a:r>
            <a:r>
              <a:rPr lang="ar-EG" sz="900">
                <a:hlinkClick r:id="rId4" tooltip="https://creativecommons.org/licenses/by/3.0/"/>
              </a:rPr>
              <a:t>CC BY</a:t>
            </a:r>
            <a:endParaRPr lang="ar-EG" sz="90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F504C99-A636-450B-9A3E-DC33B5770F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14129"/>
            <a:ext cx="2197160" cy="196754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C5AD59B-9247-4ED3-BBF9-ED06DB4A10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5200008" y="4744722"/>
            <a:ext cx="3862712" cy="20472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20" y="101600"/>
            <a:ext cx="8229600" cy="1143000"/>
          </a:xfrm>
        </p:spPr>
        <p:txBody>
          <a:bodyPr>
            <a:normAutofit/>
          </a:bodyPr>
          <a:lstStyle/>
          <a:p>
            <a:pPr>
              <a:defRPr sz="3800" b="1">
                <a:solidFill>
                  <a:srgbClr val="1E4696"/>
                </a:solidFill>
              </a:defRPr>
            </a:pPr>
            <a:r>
              <a:rPr lang="en-US" sz="4000" i="1" u="sng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00FFFF"/>
                </a:highlight>
              </a:rPr>
              <a:t>Project Overview</a:t>
            </a:r>
            <a:endParaRPr sz="4000" i="1" u="sng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00FFFF"/>
              </a:highligh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5120" y="1851660"/>
            <a:ext cx="8229600" cy="4525963"/>
          </a:xfrm>
        </p:spPr>
        <p:txBody>
          <a:bodyPr>
            <a:normAutofit fontScale="92500" lnSpcReduction="20000"/>
          </a:bodyPr>
          <a:lstStyle/>
          <a:p>
            <a:endParaRPr lang="en-US" b="1" dirty="0">
              <a:solidFill>
                <a:schemeClr val="tx2">
                  <a:lumMod val="5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3000" b="1" dirty="0"/>
              <a:t>This project aims to develop a robust Machine Learning model for predicting breast cancer using the Breast Cancer Wisconsin Dataset.</a:t>
            </a:r>
            <a:br>
              <a:rPr lang="en-US" sz="3000" b="1" dirty="0"/>
            </a:br>
            <a:r>
              <a:rPr lang="en-US" sz="3000" b="1" dirty="0"/>
              <a:t>Through supervised learning methods, the system analyzes clinical cell-level features to classify tumors as benign or malignant.</a:t>
            </a:r>
            <a:br>
              <a:rPr lang="en-US" sz="3000" b="1" dirty="0"/>
            </a:br>
            <a:r>
              <a:rPr lang="en-US" sz="3000" b="1" dirty="0"/>
              <a:t>Multiple models—including Logistic Regression,  SVM, and Random Forest—were trained and tested to determine the best-performing algorithm.</a:t>
            </a:r>
            <a:br>
              <a:rPr lang="en-US" sz="3000" b="1" dirty="0"/>
            </a:br>
            <a:r>
              <a:rPr lang="en-US" sz="3000" b="1" dirty="0"/>
              <a:t>The goal is to support early diagnosis, improve accuracy, and assist healthcare professionals</a:t>
            </a:r>
            <a:r>
              <a:rPr lang="en-US" sz="3500" b="1" dirty="0"/>
              <a:t>.</a:t>
            </a:r>
            <a:endParaRPr lang="en-US" sz="3500" dirty="0"/>
          </a:p>
          <a:p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1E51F9-B915-4328-9D1F-42D6C04926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03200" y="269518"/>
            <a:ext cx="2443990" cy="16301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1E4696"/>
                </a:solidFill>
              </a:defRPr>
            </a:pPr>
            <a:r>
              <a:rPr i="1" dirty="0">
                <a:solidFill>
                  <a:schemeClr val="tx2">
                    <a:lumMod val="50000"/>
                  </a:schemeClr>
                </a:solidFill>
                <a:highlight>
                  <a:srgbClr val="00FFFF"/>
                </a:highlight>
              </a:rPr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28676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/>
              <a:t>Breast cancer diagnosis relies on analyzing microscopic cell features, which may appear visually similar in benign and malignant cases.</a:t>
            </a:r>
            <a:br>
              <a:rPr lang="en-US" sz="2400" b="1" dirty="0"/>
            </a:br>
            <a:r>
              <a:rPr lang="en-US" sz="2400" b="1" dirty="0"/>
              <a:t>This increases the risk of misclassification and delays in treatment.</a:t>
            </a:r>
            <a:br>
              <a:rPr lang="en-US" sz="2400" b="1" dirty="0"/>
            </a:br>
            <a:r>
              <a:rPr lang="en-US" sz="2400" b="1" dirty="0"/>
              <a:t>The problem is to develop a reliable machine learning model that can distinguish tumor types based on measurable features, helping clinicians make faster and more accurate decisions.</a:t>
            </a:r>
            <a:endParaRPr lang="en-US" sz="2400" dirty="0"/>
          </a:p>
          <a:p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7EE0BE-1098-4A06-A354-612B946AB6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4328160"/>
            <a:ext cx="3065780" cy="25298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B64827-8FC9-472A-BC6D-B205A3D34A81}"/>
              </a:ext>
            </a:extLst>
          </p:cNvPr>
          <p:cNvSpPr txBox="1"/>
          <p:nvPr/>
        </p:nvSpPr>
        <p:spPr>
          <a:xfrm>
            <a:off x="-1877060" y="7312750"/>
            <a:ext cx="3065780" cy="2308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EG" sz="900">
                <a:hlinkClick r:id="rId3" tooltip="https://link.springer.com/article/10.1007/s10549-021-06220-9"/>
              </a:rPr>
              <a:t>This Photo</a:t>
            </a:r>
            <a:r>
              <a:rPr lang="ar-EG" sz="900"/>
              <a:t> by Unknown Author is licensed under </a:t>
            </a:r>
            <a:r>
              <a:rPr lang="ar-EG" sz="900">
                <a:hlinkClick r:id="rId4" tooltip="https://creativecommons.org/licenses/by/3.0/"/>
              </a:rPr>
              <a:t>CC BY</a:t>
            </a:r>
            <a:endParaRPr lang="ar-EG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3800" b="1">
                <a:solidFill>
                  <a:srgbClr val="1E4696"/>
                </a:solidFill>
              </a:defRPr>
            </a:pPr>
            <a:r>
              <a:rPr sz="4000" i="1" u="sng" dirty="0"/>
              <a:t>Dataset Description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9317219-6BF7-45EB-8D2D-F3D7DC72E2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2560" y="1199563"/>
            <a:ext cx="8524240" cy="4179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altLang="ar-EG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Source:</a:t>
            </a:r>
            <a:endParaRPr kumimoji="0" lang="ar-EG" altLang="ar-EG" sz="16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ar-EG" altLang="ar-E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Included in </a:t>
            </a:r>
            <a:r>
              <a:rPr kumimoji="0" lang="ar-EG" altLang="ar-EG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scikit-learn</a:t>
            </a:r>
            <a:r>
              <a:rPr kumimoji="0" lang="ar-EG" altLang="ar-E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ar-EG" altLang="ar-EG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load_breast_cancer</a:t>
            </a:r>
            <a:r>
              <a:rPr kumimoji="0" lang="ar-EG" altLang="ar-EG" sz="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ar-EG" altLang="ar-EG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ar-EG" altLang="ar-E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Also available as a CSV on </a:t>
            </a:r>
            <a:r>
              <a:rPr kumimoji="0" lang="ar-EG" altLang="ar-EG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Kaggle</a:t>
            </a:r>
            <a:r>
              <a:rPr kumimoji="0" lang="ar-EG" altLang="ar-E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altLang="ar-EG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Size:</a:t>
            </a:r>
            <a:endParaRPr kumimoji="0" lang="ar-EG" altLang="ar-EG" sz="16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ar-EG" altLang="ar-EG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569</a:t>
            </a:r>
            <a:r>
              <a:rPr kumimoji="0" lang="ar-EG" altLang="ar-E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samples (rows).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ar-EG" altLang="ar-EG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30</a:t>
            </a:r>
            <a:r>
              <a:rPr kumimoji="0" lang="ar-EG" altLang="ar-E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numerical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ar-EG" altLang="ar-E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 binary target variable: </a:t>
            </a:r>
            <a:r>
              <a:rPr kumimoji="0" lang="ar-EG" altLang="ar-EG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Diagnosis</a:t>
            </a:r>
            <a:r>
              <a:rPr kumimoji="0" lang="ar-EG" altLang="ar-E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altLang="ar-EG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Details:</a:t>
            </a:r>
            <a:endParaRPr kumimoji="0" lang="ar-EG" altLang="ar-EG" sz="16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ar-EG" altLang="ar-E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 classes: </a:t>
            </a:r>
            <a:r>
              <a:rPr kumimoji="0" lang="ar-EG" altLang="ar-EG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Malignant</a:t>
            </a:r>
            <a:r>
              <a:rPr kumimoji="0" lang="ar-EG" altLang="ar-E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ar-EG" altLang="ar-EG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Benign</a:t>
            </a:r>
            <a:r>
              <a:rPr kumimoji="0" lang="ar-EG" altLang="ar-E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ar-EG" altLang="ar-E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Represented as a binary label (encode as 0/1 as appropriate</a:t>
            </a:r>
          </a:p>
          <a:p>
            <a:pPr marL="0" indent="0">
              <a:buNone/>
            </a:pPr>
            <a:r>
              <a:rPr lang="en-US" sz="2000" b="1" u="sng" dirty="0"/>
              <a:t>Why this dataset?</a:t>
            </a:r>
            <a:endParaRPr lang="en-US" b="1" u="sng" dirty="0"/>
          </a:p>
          <a:p>
            <a:pPr marL="0" indent="0">
              <a:buNone/>
            </a:pPr>
            <a:r>
              <a:rPr lang="en-US" sz="1600" dirty="0"/>
              <a:t>Widely used benchmark in medical ML research.</a:t>
            </a:r>
          </a:p>
          <a:p>
            <a:pPr marL="0" indent="0">
              <a:buNone/>
            </a:pPr>
            <a:r>
              <a:rPr lang="en-US" sz="1600" dirty="0"/>
              <a:t>Clean and well-structured — ideal for supervised classification tasks.</a:t>
            </a:r>
          </a:p>
          <a:p>
            <a:pPr marL="0" indent="0">
              <a:buNone/>
            </a:pPr>
            <a:r>
              <a:rPr lang="en-US" sz="1600" dirty="0"/>
              <a:t>Enables comparison across multiple models and evaluation metric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B7494A-83D6-426B-809B-CADBE8FD41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47105" y="4627139"/>
            <a:ext cx="2934335" cy="19562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EBC81C2-67CB-4AF1-B653-EC65A6C7780D}"/>
              </a:ext>
            </a:extLst>
          </p:cNvPr>
          <p:cNvSpPr txBox="1"/>
          <p:nvPr/>
        </p:nvSpPr>
        <p:spPr>
          <a:xfrm>
            <a:off x="6047105" y="6763789"/>
            <a:ext cx="2934335" cy="2308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EG" sz="900">
                <a:hlinkClick r:id="rId3" tooltip="https://iabac.org/blog/exploring-real-world-applications-of-machine-learning-in-data-science"/>
              </a:rPr>
              <a:t>This Photo</a:t>
            </a:r>
            <a:r>
              <a:rPr lang="ar-EG" sz="900"/>
              <a:t> by Unknown Author is licensed under </a:t>
            </a:r>
            <a:r>
              <a:rPr lang="ar-EG" sz="900">
                <a:hlinkClick r:id="rId4" tooltip="https://creativecommons.org/licenses/by-sa/3.0/"/>
              </a:rPr>
              <a:t>CC BY-SA</a:t>
            </a:r>
            <a:endParaRPr lang="ar-EG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600200"/>
            <a:ext cx="8229600" cy="1143000"/>
          </a:xfrm>
        </p:spPr>
        <p:txBody>
          <a:bodyPr/>
          <a:lstStyle/>
          <a:p>
            <a:pPr>
              <a:defRPr sz="3800" b="1">
                <a:solidFill>
                  <a:srgbClr val="1E4696"/>
                </a:solidFill>
              </a:defRPr>
            </a:pP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/>
            </a:pPr>
            <a:r>
              <a:t>Cleaning + Encoding</a:t>
            </a:r>
          </a:p>
          <a:p>
            <a:pPr>
              <a:defRPr sz="2200"/>
            </a:pPr>
            <a:r>
              <a:t>Feature Scaling</a:t>
            </a:r>
          </a:p>
          <a:p>
            <a:pPr>
              <a:defRPr sz="2200"/>
            </a:pPr>
            <a:r>
              <a:t>Train-Test Split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338ADC-7A25-41EB-A600-01210B56A7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-116346"/>
            <a:ext cx="10805257" cy="69743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E4EE61-99F4-48D4-8519-D309096EF865}"/>
              </a:ext>
            </a:extLst>
          </p:cNvPr>
          <p:cNvSpPr txBox="1"/>
          <p:nvPr/>
        </p:nvSpPr>
        <p:spPr>
          <a:xfrm>
            <a:off x="428625" y="5634037"/>
            <a:ext cx="8286750" cy="2308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EG" sz="900">
                <a:hlinkClick r:id="rId3" tooltip="https://iabac.org/blog/core-components-of-machine-learning"/>
              </a:rPr>
              <a:t>This Photo</a:t>
            </a:r>
            <a:r>
              <a:rPr lang="ar-EG" sz="900"/>
              <a:t> by Unknown Author is licensed under </a:t>
            </a:r>
            <a:r>
              <a:rPr lang="ar-EG" sz="900">
                <a:hlinkClick r:id="rId4" tooltip="https://creativecommons.org/licenses/by-sa/3.0/"/>
              </a:rPr>
              <a:t>CC BY-SA</a:t>
            </a:r>
            <a:endParaRPr lang="ar-EG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1680" y="274638"/>
            <a:ext cx="6675120" cy="1143000"/>
          </a:xfrm>
        </p:spPr>
        <p:txBody>
          <a:bodyPr>
            <a:normAutofit/>
          </a:bodyPr>
          <a:lstStyle/>
          <a:p>
            <a:pPr>
              <a:defRPr sz="3800" b="1">
                <a:solidFill>
                  <a:srgbClr val="1E4696"/>
                </a:solidFill>
              </a:defRPr>
            </a:pPr>
            <a:r>
              <a:rPr sz="4000" i="1" u="sng" dirty="0"/>
              <a:t>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829040" cy="5257800"/>
          </a:xfrm>
        </p:spPr>
        <p:txBody>
          <a:bodyPr>
            <a:normAutofit/>
          </a:bodyPr>
          <a:lstStyle/>
          <a:p>
            <a:endParaRPr lang="en-US" b="1" dirty="0"/>
          </a:p>
          <a:p>
            <a:r>
              <a:rPr lang="en-US" sz="2600" b="1" u="sng" dirty="0"/>
              <a:t>Logistic Regression</a:t>
            </a:r>
            <a:endParaRPr lang="en-US" sz="1700" b="1" u="sng" dirty="0"/>
          </a:p>
          <a:p>
            <a:pPr marL="0" indent="0">
              <a:buNone/>
            </a:pPr>
            <a:r>
              <a:rPr lang="en-US" sz="1900" dirty="0"/>
              <a:t>A linear classification model that predicts the probability of a tumor being malignant or benign. Works best for linearly separable data and provides interpretable decision boundaries.</a:t>
            </a:r>
          </a:p>
          <a:p>
            <a:r>
              <a:rPr lang="en-US" sz="2600" b="1" u="sng" dirty="0"/>
              <a:t>Support Vector Machine (SVM)</a:t>
            </a:r>
            <a:endParaRPr lang="en-US" sz="1500" b="1" u="sng" dirty="0"/>
          </a:p>
          <a:p>
            <a:pPr marL="0" indent="0">
              <a:buNone/>
            </a:pPr>
            <a:r>
              <a:rPr lang="en-US" sz="1900" dirty="0"/>
              <a:t>A powerful classifier that finds the optimal hyperplane separating the classes. It is effective in high-dimensional spaces and performs well with complex boundaries using kernels.</a:t>
            </a:r>
          </a:p>
          <a:p>
            <a:r>
              <a:rPr lang="en-US" sz="2400" b="1" u="sng" dirty="0"/>
              <a:t>Random Forest</a:t>
            </a:r>
            <a:endParaRPr lang="en-US" sz="3900" b="1" u="sng" dirty="0"/>
          </a:p>
          <a:p>
            <a:pPr marL="0" indent="0">
              <a:buNone/>
            </a:pPr>
            <a:r>
              <a:rPr lang="en-US" sz="1900" dirty="0"/>
              <a:t>An ensemble model that combines multiple decision trees to improve accuracy and reduce overfitting. It provides strong predictive performance and measures feature importance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EC1E6C-13CC-4D5A-941D-761CB0FEC8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0" y="35560"/>
            <a:ext cx="3053715" cy="16713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AE593FB-3D9B-48F5-8B98-D1A75718FBE4}"/>
              </a:ext>
            </a:extLst>
          </p:cNvPr>
          <p:cNvSpPr txBox="1"/>
          <p:nvPr/>
        </p:nvSpPr>
        <p:spPr>
          <a:xfrm>
            <a:off x="-71120" y="1425884"/>
            <a:ext cx="2976379" cy="2308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EG" sz="900" dirty="0">
                <a:hlinkClick r:id="rId4" tooltip="https://iabac.org/blog/exploring-real-world-applications-of-machine-learning-in-data-science"/>
              </a:rPr>
              <a:t>This Photo</a:t>
            </a:r>
            <a:r>
              <a:rPr lang="ar-EG" sz="900" dirty="0"/>
              <a:t> by Unknown Author is licensed under </a:t>
            </a:r>
            <a:r>
              <a:rPr lang="ar-EG" sz="900" dirty="0">
                <a:hlinkClick r:id="rId5" tooltip="https://creativecommons.org/licenses/by-sa/3.0/"/>
              </a:rPr>
              <a:t>CC BY-SA</a:t>
            </a:r>
            <a:endParaRPr lang="ar-EG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5920" y="113366"/>
            <a:ext cx="8229600" cy="1143000"/>
          </a:xfrm>
        </p:spPr>
        <p:txBody>
          <a:bodyPr>
            <a:normAutofit/>
          </a:bodyPr>
          <a:lstStyle/>
          <a:p>
            <a:pPr>
              <a:defRPr sz="3800" b="1">
                <a:solidFill>
                  <a:srgbClr val="1E4696"/>
                </a:solidFill>
              </a:defRPr>
            </a:pPr>
            <a:r>
              <a:rPr sz="4000" i="1" u="sng" dirty="0"/>
              <a:t>Training &amp;</a:t>
            </a:r>
            <a:r>
              <a:rPr lang="en-US" sz="4000" i="1" u="sng" dirty="0"/>
              <a:t> Testing</a:t>
            </a:r>
            <a:endParaRPr sz="4000" i="1" u="sn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DE6F60-3F00-42A7-BAC2-EDCEFAA8C3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18824" y="1196480"/>
            <a:ext cx="9181647" cy="497665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E644B3-1C58-43D1-BFAF-C355FCB3F08C}"/>
              </a:ext>
            </a:extLst>
          </p:cNvPr>
          <p:cNvSpPr txBox="1"/>
          <p:nvPr/>
        </p:nvSpPr>
        <p:spPr>
          <a:xfrm>
            <a:off x="-18824" y="6132941"/>
            <a:ext cx="7923213" cy="2308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EG" sz="900">
                <a:hlinkClick r:id="rId3" tooltip="https://nocomplexity.com/documents/fossml/architecture.html"/>
              </a:rPr>
              <a:t>This Photo</a:t>
            </a:r>
            <a:r>
              <a:rPr lang="ar-EG" sz="900"/>
              <a:t> by Unknown Author is licensed under </a:t>
            </a:r>
            <a:r>
              <a:rPr lang="ar-EG" sz="900">
                <a:hlinkClick r:id="rId4" tooltip="https://creativecommons.org/licenses/by-sa/3.0/"/>
              </a:rPr>
              <a:t>CC BY-SA</a:t>
            </a:r>
            <a:endParaRPr lang="ar-EG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A8E68-97AA-3939-48F7-F684EF354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Flowchart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9F3E806-C5E3-348F-A4B2-16640B5713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9600" y="1290320"/>
            <a:ext cx="4927600" cy="51511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39127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1E4696"/>
                </a:solidFill>
              </a:defRPr>
            </a:pPr>
            <a:r>
              <a:rPr lang="en-US" dirty="0"/>
              <a:t>E</a:t>
            </a:r>
            <a:r>
              <a:rPr dirty="0"/>
              <a:t>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471136"/>
            <a:ext cx="8686800" cy="4937602"/>
          </a:xfrm>
        </p:spPr>
        <p:txBody>
          <a:bodyPr>
            <a:normAutofit fontScale="25000" lnSpcReduction="20000"/>
          </a:bodyPr>
          <a:lstStyle/>
          <a:p>
            <a:r>
              <a:rPr lang="en-US" sz="4000" b="1" u="sng" dirty="0"/>
              <a:t> </a:t>
            </a:r>
            <a:r>
              <a:rPr lang="en-US" sz="7000" b="1" u="sng" dirty="0"/>
              <a:t>Accuracy</a:t>
            </a:r>
          </a:p>
          <a:p>
            <a:r>
              <a:rPr lang="en-US" sz="4900" dirty="0"/>
              <a:t>Measures the overall correctness of the model by calculating how many predictions were right out of all predictions made.</a:t>
            </a:r>
            <a:br>
              <a:rPr lang="en-US" sz="4900" dirty="0"/>
            </a:br>
            <a:r>
              <a:rPr lang="en-US" sz="4900" dirty="0"/>
              <a:t>A high accuracy means the model is performing well </a:t>
            </a:r>
            <a:r>
              <a:rPr lang="en-US" sz="4900" i="1" dirty="0"/>
              <a:t>overall</a:t>
            </a:r>
            <a:r>
              <a:rPr lang="en-US" sz="4900" dirty="0"/>
              <a:t>, but it might not be enough alone in medical diagnosis.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6700" b="1" u="sng" dirty="0"/>
              <a:t>Precision</a:t>
            </a:r>
          </a:p>
          <a:p>
            <a:r>
              <a:rPr lang="en-US" sz="4900" dirty="0"/>
              <a:t>Represents how many of the tumors predicted as </a:t>
            </a:r>
            <a:r>
              <a:rPr lang="en-US" sz="4900" b="1" dirty="0"/>
              <a:t>malignant</a:t>
            </a:r>
            <a:r>
              <a:rPr lang="en-US" sz="4900" dirty="0"/>
              <a:t> were actually malignant.</a:t>
            </a:r>
            <a:br>
              <a:rPr lang="en-US" sz="4900" dirty="0"/>
            </a:br>
            <a:r>
              <a:rPr lang="en-US" sz="4900" dirty="0"/>
              <a:t>High precision means the model makes </a:t>
            </a:r>
            <a:r>
              <a:rPr lang="en-US" sz="4900" i="1" dirty="0"/>
              <a:t>very few false alarms</a:t>
            </a:r>
            <a:r>
              <a:rPr lang="en-US" sz="4900" dirty="0"/>
              <a:t>, which is crucial to avoid unnecessary panic or extra medical procedures.</a:t>
            </a:r>
          </a:p>
          <a:p>
            <a:pPr marL="0" indent="0">
              <a:buNone/>
            </a:pPr>
            <a:endParaRPr lang="en-US" sz="5000" dirty="0"/>
          </a:p>
          <a:p>
            <a:r>
              <a:rPr lang="en-US" sz="7000" b="1" u="sng" dirty="0"/>
              <a:t>Recall</a:t>
            </a:r>
          </a:p>
          <a:p>
            <a:r>
              <a:rPr lang="en-US" sz="5500" dirty="0"/>
              <a:t>Indicates how many of the </a:t>
            </a:r>
            <a:r>
              <a:rPr lang="en-US" sz="5500" i="1" dirty="0"/>
              <a:t>actual malignant cases</a:t>
            </a:r>
            <a:r>
              <a:rPr lang="en-US" sz="5500" dirty="0"/>
              <a:t> the model successfully detected.</a:t>
            </a:r>
            <a:br>
              <a:rPr lang="en-US" sz="5500" dirty="0"/>
            </a:br>
            <a:r>
              <a:rPr lang="en-US" sz="5500" dirty="0"/>
              <a:t>High recall means </a:t>
            </a:r>
            <a:r>
              <a:rPr lang="en-US" sz="5500" b="1" dirty="0"/>
              <a:t>the model rarely misses real cancer cases</a:t>
            </a:r>
            <a:r>
              <a:rPr lang="en-US" sz="5500" dirty="0"/>
              <a:t>, making it extremely valuable for early detection.</a:t>
            </a:r>
          </a:p>
          <a:p>
            <a:pPr marL="0" indent="0">
              <a:buNone/>
            </a:pPr>
            <a:endParaRPr lang="en-US" sz="7400" dirty="0"/>
          </a:p>
          <a:p>
            <a:r>
              <a:rPr lang="en-US" sz="6000" b="1" u="sng" dirty="0"/>
              <a:t>F1-Score</a:t>
            </a:r>
          </a:p>
          <a:p>
            <a:r>
              <a:rPr lang="en-US" sz="4900" dirty="0"/>
              <a:t>A balanced measure that combines precision and recall into a single number.</a:t>
            </a:r>
            <a:br>
              <a:rPr lang="en-US" sz="4900" dirty="0"/>
            </a:br>
            <a:r>
              <a:rPr lang="en-US" sz="4900" dirty="0"/>
              <a:t>It’s especially useful when the dataset is imbalanced.</a:t>
            </a:r>
            <a:br>
              <a:rPr lang="en-US" sz="4900" dirty="0"/>
            </a:br>
            <a:r>
              <a:rPr lang="en-US" sz="4900" dirty="0"/>
              <a:t>A strong F1-score means the model is both </a:t>
            </a:r>
            <a:r>
              <a:rPr lang="en-US" sz="4900" i="1" dirty="0"/>
              <a:t>accurate</a:t>
            </a:r>
            <a:r>
              <a:rPr lang="en-US" sz="4900" dirty="0"/>
              <a:t> and </a:t>
            </a:r>
            <a:r>
              <a:rPr lang="en-US" sz="4900" i="1" dirty="0"/>
              <a:t>reliable</a:t>
            </a:r>
            <a:r>
              <a:rPr lang="en-US" sz="4900" dirty="0"/>
              <a:t> in identifying cancer cases.</a:t>
            </a:r>
          </a:p>
          <a:p>
            <a:endParaRPr lang="en-US" sz="9600" dirty="0"/>
          </a:p>
          <a:p>
            <a:r>
              <a:rPr lang="en-US" sz="5600" b="1" dirty="0"/>
              <a:t>• </a:t>
            </a:r>
            <a:r>
              <a:rPr lang="en-US" sz="6400" b="1" u="sng" dirty="0"/>
              <a:t>Mean Squared Error (MSE):</a:t>
            </a:r>
            <a:br>
              <a:rPr lang="en-US" sz="5600" dirty="0"/>
            </a:br>
            <a:r>
              <a:rPr lang="en-US" sz="5600" dirty="0"/>
              <a:t>A metric that measures the average of the squared differences between the actual and predicted values; lower values indicate a more accurate model.</a:t>
            </a:r>
          </a:p>
          <a:p>
            <a:endParaRPr lang="en-US" sz="5600" dirty="0"/>
          </a:p>
          <a:p>
            <a:r>
              <a:rPr lang="en-US" sz="6400" b="1" u="sng" dirty="0"/>
              <a:t>• R² Score:</a:t>
            </a:r>
            <a:br>
              <a:rPr lang="en-US" sz="5600" dirty="0"/>
            </a:br>
            <a:r>
              <a:rPr lang="en-US" sz="5600" dirty="0"/>
              <a:t>A metric that represents how much of the variance in the data is explained by the model; values closer to 1 indicate stronger model performance.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A8E71C-4009-4F42-8454-B619943292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3337" y="0"/>
            <a:ext cx="1933575" cy="11964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1E4696"/>
                </a:solidFill>
              </a:defRPr>
            </a:pPr>
            <a:r>
              <a:rPr dirty="0"/>
              <a:t>Confusion Matrix &amp;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z="5900" b="1" u="sng" dirty="0"/>
              <a:t>Confusion Matrix</a:t>
            </a:r>
          </a:p>
          <a:p>
            <a:r>
              <a:rPr lang="en-US" sz="3400" dirty="0"/>
              <a:t>A confusion matrix is a powerful visual tool that shows exactly how the model performed by comparing </a:t>
            </a:r>
            <a:r>
              <a:rPr lang="en-US" sz="3400" b="1" dirty="0"/>
              <a:t>predicted labels</a:t>
            </a:r>
            <a:r>
              <a:rPr lang="en-US" sz="3400" dirty="0"/>
              <a:t> with </a:t>
            </a:r>
            <a:r>
              <a:rPr lang="en-US" sz="3400" b="1" dirty="0"/>
              <a:t>actual labels</a:t>
            </a:r>
            <a:r>
              <a:rPr lang="en-US" sz="3400" dirty="0"/>
              <a:t>.</a:t>
            </a:r>
            <a:br>
              <a:rPr lang="en-US" sz="3400" dirty="0"/>
            </a:br>
            <a:r>
              <a:rPr lang="en-US" sz="3400" dirty="0"/>
              <a:t>It highlights the four key outcomes:</a:t>
            </a:r>
          </a:p>
          <a:p>
            <a:r>
              <a:rPr lang="en-US" sz="3400" b="1" dirty="0"/>
              <a:t>True Positives (TP):</a:t>
            </a:r>
            <a:r>
              <a:rPr lang="en-US" sz="3400" dirty="0"/>
              <a:t> Correctly predicted malignant cases.</a:t>
            </a:r>
          </a:p>
          <a:p>
            <a:r>
              <a:rPr lang="en-US" sz="3400" b="1" dirty="0"/>
              <a:t>True Negatives (TN):</a:t>
            </a:r>
            <a:r>
              <a:rPr lang="en-US" sz="3400" dirty="0"/>
              <a:t> Correctly predicted benign cases.</a:t>
            </a:r>
          </a:p>
          <a:p>
            <a:r>
              <a:rPr lang="en-US" sz="3400" b="1" dirty="0"/>
              <a:t>False Positives (FP):</a:t>
            </a:r>
            <a:r>
              <a:rPr lang="en-US" sz="3400" dirty="0"/>
              <a:t> Benign cases predicted as malignant.</a:t>
            </a:r>
          </a:p>
          <a:p>
            <a:r>
              <a:rPr lang="en-US" sz="3400" b="1" dirty="0"/>
              <a:t>False Negatives (FN):</a:t>
            </a:r>
            <a:r>
              <a:rPr lang="en-US" sz="3400" dirty="0"/>
              <a:t> Malignant cases predicted as benign (the most dangerous type).</a:t>
            </a:r>
          </a:p>
          <a:p>
            <a:r>
              <a:rPr lang="en-US" sz="3400" dirty="0"/>
              <a:t>This helps us understand </a:t>
            </a:r>
            <a:r>
              <a:rPr lang="en-US" sz="3400" b="1" dirty="0"/>
              <a:t>where the model succeeds</a:t>
            </a:r>
            <a:r>
              <a:rPr lang="en-US" sz="3400" dirty="0"/>
              <a:t> and </a:t>
            </a:r>
            <a:r>
              <a:rPr lang="en-US" sz="3400" b="1" dirty="0"/>
              <a:t>where it makes mistakes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5100" b="1" u="sng" dirty="0"/>
              <a:t>Model Comparison</a:t>
            </a:r>
          </a:p>
          <a:p>
            <a:r>
              <a:rPr lang="en-US" sz="3400" dirty="0"/>
              <a:t>By comparing confusion matrices for different models, we can clearly see:</a:t>
            </a:r>
          </a:p>
          <a:p>
            <a:r>
              <a:rPr lang="en-US" sz="3400" dirty="0"/>
              <a:t>Which model captures malignant cases more accurately</a:t>
            </a:r>
          </a:p>
          <a:p>
            <a:r>
              <a:rPr lang="en-US" sz="3400" dirty="0"/>
              <a:t>Which model produces fewer false alarms</a:t>
            </a:r>
          </a:p>
          <a:p>
            <a:r>
              <a:rPr lang="en-US" sz="3400" dirty="0"/>
              <a:t>Which model maintains the best balance between sensitivity and reliability</a:t>
            </a:r>
          </a:p>
          <a:p>
            <a:r>
              <a:rPr lang="en-US" sz="3400" dirty="0"/>
              <a:t>This comparison makes it easy to choose the most effective and trustworthy model for medical diagnosis.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1E4696"/>
                </a:solidFill>
              </a:defRPr>
            </a:pPr>
            <a:r>
              <a:rPr dirty="0"/>
              <a:t>Best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8560"/>
            <a:ext cx="8229600" cy="580136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ar-EG" dirty="0"/>
          </a:p>
          <a:p>
            <a:pPr marL="0" indent="0">
              <a:buNone/>
            </a:pPr>
            <a:endParaRPr lang="ar-EG" dirty="0"/>
          </a:p>
          <a:p>
            <a:pPr marL="0" indent="0">
              <a:buNone/>
            </a:pPr>
            <a:endParaRPr lang="ar-EG" dirty="0"/>
          </a:p>
          <a:p>
            <a:pPr marL="0" indent="0">
              <a:buNone/>
            </a:pPr>
            <a:endParaRPr lang="ar-EG" dirty="0"/>
          </a:p>
          <a:p>
            <a:pPr marL="0" indent="0">
              <a:buNone/>
            </a:pPr>
            <a:r>
              <a:rPr lang="en-US" dirty="0"/>
              <a:t>.</a:t>
            </a:r>
            <a:endParaRPr lang="ar-EG" dirty="0"/>
          </a:p>
          <a:p>
            <a:pPr marL="0" indent="0">
              <a:buNone/>
            </a:pPr>
            <a:endParaRPr lang="ar-EG" dirty="0"/>
          </a:p>
          <a:p>
            <a:pPr marL="0" indent="0">
              <a:buNone/>
            </a:pPr>
            <a:endParaRPr lang="ar-EG" dirty="0"/>
          </a:p>
          <a:p>
            <a:pPr marL="0" indent="0">
              <a:buNone/>
            </a:pPr>
            <a:endParaRPr lang="ar-EG" dirty="0"/>
          </a:p>
          <a:p>
            <a:pPr marL="0" indent="0">
              <a:buNone/>
            </a:pPr>
            <a:endParaRPr lang="en-US" dirty="0"/>
          </a:p>
          <a:p>
            <a:r>
              <a:rPr lang="en-US" sz="3500" dirty="0"/>
              <a:t>High accuracy → most predictions are correct.</a:t>
            </a:r>
          </a:p>
          <a:p>
            <a:r>
              <a:rPr lang="en-US" sz="3500" dirty="0"/>
              <a:t>Stable &amp; reliable → performance remains consistent across different datasets.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1E1034-5046-A70B-16CC-74D262C1F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638"/>
            <a:ext cx="7335520" cy="491712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1E4696"/>
                </a:solidFill>
              </a:defRPr>
            </a:pPr>
            <a:r>
              <a:rPr dirty="0"/>
              <a:t>Feature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9841"/>
            <a:ext cx="8229600" cy="3515359"/>
          </a:xfrm>
        </p:spPr>
        <p:txBody>
          <a:bodyPr>
            <a:normAutofit fontScale="70000" lnSpcReduction="20000"/>
          </a:bodyPr>
          <a:lstStyle/>
          <a:p>
            <a:r>
              <a:rPr lang="en-US" b="1" u="sng" dirty="0"/>
              <a:t>Mean Radius</a:t>
            </a:r>
            <a:r>
              <a:rPr lang="en-US" b="1" dirty="0"/>
              <a:t>:</a:t>
            </a:r>
            <a:r>
              <a:rPr lang="en-US" dirty="0"/>
              <a:t> One of the most important features for prediction.</a:t>
            </a:r>
          </a:p>
          <a:p>
            <a:r>
              <a:rPr lang="en-US" b="1" u="sng" dirty="0"/>
              <a:t>Mean Concavity: </a:t>
            </a:r>
            <a:r>
              <a:rPr lang="en-US" dirty="0"/>
              <a:t>Helps distinguish malignant from benign tumors.</a:t>
            </a:r>
          </a:p>
          <a:p>
            <a:r>
              <a:rPr lang="en-US" b="1" u="sng" dirty="0"/>
              <a:t>Texture Features</a:t>
            </a:r>
            <a:r>
              <a:rPr lang="en-US" b="1" dirty="0"/>
              <a:t>:</a:t>
            </a:r>
            <a:r>
              <a:rPr lang="en-US" dirty="0"/>
              <a:t> Provide additional information about cell surface patterns.</a:t>
            </a:r>
          </a:p>
          <a:p>
            <a:r>
              <a:rPr lang="en-US" b="1" u="sng" dirty="0"/>
              <a:t>Explanation points </a:t>
            </a:r>
            <a:endParaRPr lang="ar-EG" b="1" u="sng" dirty="0"/>
          </a:p>
          <a:p>
            <a:r>
              <a:rPr lang="en-US" dirty="0"/>
              <a:t>Shows which features the model relies on most.</a:t>
            </a:r>
          </a:p>
          <a:p>
            <a:r>
              <a:rPr lang="en-US" dirty="0"/>
              <a:t>High importance → feature strongly influences model decisions.</a:t>
            </a:r>
          </a:p>
          <a:p>
            <a:r>
              <a:rPr lang="en-US" dirty="0"/>
              <a:t>Useful for understanding and interpreting predictions in medical diagnosis.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1AEF4C-85F2-F822-4905-6D05D2834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972561"/>
            <a:ext cx="4306955" cy="27838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1E4696"/>
                </a:solidFill>
              </a:defRPr>
            </a:pPr>
            <a:r>
              <a:rPr lang="en-US" dirty="0"/>
              <a:t>Conclusion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r>
              <a:rPr lang="en-US" b="1" dirty="0"/>
              <a:t>Machine Learning (ML)</a:t>
            </a:r>
            <a:r>
              <a:rPr lang="en-US" dirty="0"/>
              <a:t> significantly </a:t>
            </a:r>
            <a:r>
              <a:rPr lang="en-US" b="1" dirty="0"/>
              <a:t>boosts early detection of breast cancer</a:t>
            </a:r>
            <a:r>
              <a:rPr lang="en-US" dirty="0"/>
              <a:t>.</a:t>
            </a:r>
          </a:p>
          <a:p>
            <a:r>
              <a:rPr lang="en-US" dirty="0"/>
              <a:t>The models achieved </a:t>
            </a:r>
            <a:r>
              <a:rPr lang="en-US" b="1" dirty="0"/>
              <a:t>high and reliable performance</a:t>
            </a:r>
            <a:r>
              <a:rPr lang="en-US" dirty="0"/>
              <a:t>.</a:t>
            </a:r>
          </a:p>
          <a:p>
            <a:r>
              <a:rPr lang="en-US" dirty="0"/>
              <a:t>This helps </a:t>
            </a:r>
            <a:r>
              <a:rPr lang="en-US" b="1" dirty="0"/>
              <a:t>speed up medical diagnosis</a:t>
            </a:r>
            <a:r>
              <a:rPr lang="en-US" dirty="0"/>
              <a:t> and </a:t>
            </a:r>
            <a:r>
              <a:rPr lang="en-US" b="1" dirty="0"/>
              <a:t>improve clinical decision accuracy</a:t>
            </a:r>
            <a:r>
              <a:rPr lang="en-US" dirty="0"/>
              <a:t>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1E4696"/>
                </a:solidFill>
              </a:defRPr>
            </a:pPr>
            <a:r>
              <a:rPr lang="en-US" dirty="0"/>
              <a:t>References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Kaggle Dataset </a:t>
            </a:r>
            <a:r>
              <a:rPr lang="en-US" dirty="0"/>
              <a:t>– Breast cancer dataset used in this project.</a:t>
            </a:r>
          </a:p>
          <a:p>
            <a:r>
              <a:rPr lang="en-US" b="1" u="sng" dirty="0"/>
              <a:t>Scikit‑Learn Documentation </a:t>
            </a:r>
            <a:r>
              <a:rPr lang="en-US" dirty="0"/>
              <a:t>– Official docs for Python ML library.</a:t>
            </a:r>
            <a:endParaRPr lang="ar-EG" dirty="0"/>
          </a:p>
          <a:p>
            <a:r>
              <a:rPr lang="en-US" b="1" u="sng" dirty="0"/>
              <a:t>ChatGPT </a:t>
            </a:r>
            <a:r>
              <a:rPr lang="en-US" dirty="0"/>
              <a:t>– Assisted in writing and structuring the presentation content.</a:t>
            </a:r>
            <a:endParaRPr lang="ar-E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E78578-8B2C-46F2-BF41-43595D2D4A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695950" y="4880314"/>
            <a:ext cx="2990850" cy="19664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379AF8-E108-4591-8721-B99429E82533}"/>
              </a:ext>
            </a:extLst>
          </p:cNvPr>
          <p:cNvSpPr txBox="1"/>
          <p:nvPr/>
        </p:nvSpPr>
        <p:spPr>
          <a:xfrm>
            <a:off x="5695950" y="7027674"/>
            <a:ext cx="2990850" cy="2308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EG" sz="900">
                <a:hlinkClick r:id="rId3" tooltip="https://www.picpedia.org/chalkboard/r/reference.html"/>
              </a:rPr>
              <a:t>This Photo</a:t>
            </a:r>
            <a:r>
              <a:rPr lang="ar-EG" sz="900"/>
              <a:t> by Unknown Author is licensed under </a:t>
            </a:r>
            <a:r>
              <a:rPr lang="ar-EG" sz="900">
                <a:hlinkClick r:id="rId4" tooltip="https://creativecommons.org/licenses/by-sa/3.0/"/>
              </a:rPr>
              <a:t>CC BY-SA</a:t>
            </a:r>
            <a:endParaRPr lang="ar-EG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976</Words>
  <Application>Microsoft Office PowerPoint</Application>
  <PresentationFormat>On-screen Show (4:3)</PresentationFormat>
  <Paragraphs>109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 Unicode MS</vt:lpstr>
      <vt:lpstr>Calibri</vt:lpstr>
      <vt:lpstr>Roboto</vt:lpstr>
      <vt:lpstr>Office Theme</vt:lpstr>
      <vt:lpstr>Breast Cancer Prediction Using Supervised Learning</vt:lpstr>
      <vt:lpstr>Project Overview</vt:lpstr>
      <vt:lpstr>Problem Definition</vt:lpstr>
      <vt:lpstr>Dataset Description</vt:lpstr>
      <vt:lpstr>PowerPoint Presentation</vt:lpstr>
      <vt:lpstr>Models Used</vt:lpstr>
      <vt:lpstr>Training &amp; Testing</vt:lpstr>
      <vt:lpstr>Flowchart</vt:lpstr>
      <vt:lpstr>Evaluation Metrics</vt:lpstr>
      <vt:lpstr>Confusion Matrix &amp; Comparison</vt:lpstr>
      <vt:lpstr>Best Model</vt:lpstr>
      <vt:lpstr>Feature Importance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Breast Cancer Prediction Using Supervised Learning</dc:title>
  <dc:subject/>
  <dc:creator>Mariem Hamam</dc:creator>
  <cp:keywords/>
  <dc:description>generated using python-pptx</dc:description>
  <cp:lastModifiedBy>مريم محمد عبدالهادى عبدالعليم</cp:lastModifiedBy>
  <cp:revision>21</cp:revision>
  <dcterms:created xsi:type="dcterms:W3CDTF">2013-01-27T09:14:16Z</dcterms:created>
  <dcterms:modified xsi:type="dcterms:W3CDTF">2026-10-03T20:04:20Z</dcterms:modified>
  <cp:category/>
</cp:coreProperties>
</file>